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397" r:id="rId4"/>
    <p:sldId id="399" r:id="rId5"/>
    <p:sldId id="403" r:id="rId6"/>
    <p:sldId id="398" r:id="rId7"/>
    <p:sldId id="400" r:id="rId8"/>
    <p:sldId id="401" r:id="rId9"/>
    <p:sldId id="405" r:id="rId10"/>
    <p:sldId id="404" r:id="rId11"/>
    <p:sldId id="395" r:id="rId12"/>
    <p:sldId id="402" r:id="rId13"/>
    <p:sldId id="384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FC6"/>
    <a:srgbClr val="7F5167"/>
    <a:srgbClr val="F35F63"/>
    <a:srgbClr val="D10592"/>
    <a:srgbClr val="990000"/>
    <a:srgbClr val="EAE3E4"/>
    <a:srgbClr val="10CF9B"/>
    <a:srgbClr val="FFFFFF"/>
    <a:srgbClr val="00B050"/>
    <a:srgbClr val="0BD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86389" autoAdjust="0"/>
  </p:normalViewPr>
  <p:slideViewPr>
    <p:cSldViewPr snapToGrid="0" showGuides="1">
      <p:cViewPr varScale="1">
        <p:scale>
          <a:sx n="82" d="100"/>
          <a:sy n="82" d="100"/>
        </p:scale>
        <p:origin x="1498" y="72"/>
      </p:cViewPr>
      <p:guideLst>
        <p:guide orient="horz" pos="2162"/>
        <p:guide pos="2842"/>
      </p:guideLst>
    </p:cSldViewPr>
  </p:slideViewPr>
  <p:outlineViewPr>
    <p:cViewPr>
      <p:scale>
        <a:sx n="33" d="100"/>
        <a:sy n="33" d="100"/>
      </p:scale>
      <p:origin x="0" y="-4131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4ACC1A-02F5-41CA-A78C-0EC144B17F1C}" type="doc">
      <dgm:prSet loTypeId="urn:microsoft.com/office/officeart/2005/8/layout/vList2#2" loCatId="list" qsTypeId="urn:microsoft.com/office/officeart/2005/8/quickstyle/simple2#2" qsCatId="simple" csTypeId="urn:microsoft.com/office/officeart/2005/8/colors/colorful1#2" csCatId="colorful" phldr="1"/>
      <dgm:spPr/>
    </dgm:pt>
    <dgm:pt modelId="{CAFC2525-00BD-4074-9F2C-4E00F6F60156}">
      <dgm:prSet phldrT="[Text]" phldr="0" custT="0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1. </a:t>
          </a:r>
          <a:r>
            <a:rPr lang="vi-VN" altLang="en-US" b="1" dirty="0"/>
            <a:t>Giới thiệu</a:t>
          </a:r>
          <a:r>
            <a:rPr lang="en-US" altLang="en-US" b="1" dirty="0"/>
            <a:t> </a:t>
          </a:r>
          <a:r>
            <a:rPr lang="en-US" altLang="en-US" b="1" dirty="0" err="1"/>
            <a:t>bối</a:t>
          </a:r>
          <a:r>
            <a:rPr lang="en-US" altLang="en-US" b="1" dirty="0"/>
            <a:t> </a:t>
          </a:r>
          <a:r>
            <a:rPr lang="en-US" altLang="en-US" b="1" dirty="0" err="1"/>
            <a:t>cảnh</a:t>
          </a:r>
          <a:r>
            <a:rPr lang="en-US" altLang="en-US" b="1" dirty="0"/>
            <a:t> </a:t>
          </a:r>
          <a:r>
            <a:rPr lang="en-US" altLang="en-US" b="1" dirty="0" err="1"/>
            <a:t>tuyển</a:t>
          </a:r>
          <a:r>
            <a:rPr lang="en-US" altLang="en-US" b="1" dirty="0"/>
            <a:t> </a:t>
          </a:r>
          <a:r>
            <a:rPr lang="en-US" altLang="en-US" b="1" dirty="0" err="1"/>
            <a:t>dụng</a:t>
          </a:r>
          <a:endParaRPr lang="vi-VN" altLang="en-US" b="1" dirty="0"/>
        </a:p>
      </dgm:t>
    </dgm:pt>
    <dgm:pt modelId="{0D452094-EADC-47A8-8110-FBA9B37A6AFD}" type="parTrans" cxnId="{FB578499-AC62-4DBC-8997-A6060B695D8B}">
      <dgm:prSet/>
      <dgm:spPr/>
      <dgm:t>
        <a:bodyPr/>
        <a:lstStyle/>
        <a:p>
          <a:endParaRPr lang="en-US"/>
        </a:p>
      </dgm:t>
    </dgm:pt>
    <dgm:pt modelId="{B6E57F60-28D2-4A0E-A8DE-980F6D8A258F}" type="sibTrans" cxnId="{FB578499-AC62-4DBC-8997-A6060B695D8B}">
      <dgm:prSet/>
      <dgm:spPr/>
      <dgm:t>
        <a:bodyPr/>
        <a:lstStyle/>
        <a:p>
          <a:endParaRPr lang="en-US"/>
        </a:p>
      </dgm:t>
    </dgm:pt>
    <dgm:pt modelId="{4EB5E810-64F5-4574-B5C8-A1A985A21018}">
      <dgm:prSet phldrT="[Text]" phldr="0" custT="0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2. </a:t>
          </a:r>
          <a:r>
            <a:rPr lang="vi-VN" altLang="en-US" b="1" dirty="0"/>
            <a:t>Phương pháp </a:t>
          </a:r>
          <a:r>
            <a:rPr lang="en-US" altLang="en-US" b="1" dirty="0"/>
            <a:t>RAG </a:t>
          </a:r>
          <a:r>
            <a:rPr lang="en-US" altLang="en-US" b="1" dirty="0" err="1"/>
            <a:t>đề</a:t>
          </a:r>
          <a:r>
            <a:rPr lang="en-US" altLang="en-US" b="1" dirty="0"/>
            <a:t> </a:t>
          </a:r>
          <a:r>
            <a:rPr lang="en-US" altLang="en-US" b="1" dirty="0" err="1"/>
            <a:t>xuất</a:t>
          </a:r>
          <a:endParaRPr lang="vi-VN" altLang="en-US" b="1" dirty="0"/>
        </a:p>
      </dgm:t>
    </dgm:pt>
    <dgm:pt modelId="{C6DAC73D-6C01-4698-A81B-27E43C2C3639}" type="parTrans" cxnId="{627F3F62-751D-411A-AFA5-D7B0A7CA8E5E}">
      <dgm:prSet/>
      <dgm:spPr/>
      <dgm:t>
        <a:bodyPr/>
        <a:lstStyle/>
        <a:p>
          <a:endParaRPr lang="en-US"/>
        </a:p>
      </dgm:t>
    </dgm:pt>
    <dgm:pt modelId="{84C3ADDC-B272-4751-BF7F-7FE2482E6392}" type="sibTrans" cxnId="{627F3F62-751D-411A-AFA5-D7B0A7CA8E5E}">
      <dgm:prSet/>
      <dgm:spPr/>
      <dgm:t>
        <a:bodyPr/>
        <a:lstStyle/>
        <a:p>
          <a:endParaRPr lang="en-US"/>
        </a:p>
      </dgm:t>
    </dgm:pt>
    <dgm:pt modelId="{E34AA51F-46C4-4E87-9CBB-1F5241C43452}">
      <dgm:prSet phldrT="[Text]" phldr="0" custT="0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3. </a:t>
          </a:r>
          <a:r>
            <a:rPr lang="en-US" altLang="en-US" b="1" dirty="0" err="1"/>
            <a:t>Thảo</a:t>
          </a:r>
          <a:r>
            <a:rPr lang="en-US" altLang="en-US" b="1" dirty="0"/>
            <a:t> </a:t>
          </a:r>
          <a:r>
            <a:rPr lang="en-US" altLang="en-US" b="1" dirty="0" err="1"/>
            <a:t>luận</a:t>
          </a:r>
          <a:r>
            <a:rPr lang="en-US" altLang="en-US" b="1" dirty="0"/>
            <a:t> </a:t>
          </a:r>
          <a:r>
            <a:rPr lang="en-US" altLang="en-US" b="1" dirty="0" err="1"/>
            <a:t>về</a:t>
          </a:r>
          <a:r>
            <a:rPr lang="en-US" altLang="en-US" b="1" dirty="0"/>
            <a:t> </a:t>
          </a:r>
          <a:r>
            <a:rPr lang="en-US" altLang="en-US" b="1" dirty="0" err="1"/>
            <a:t>kết</a:t>
          </a:r>
          <a:r>
            <a:rPr lang="en-US" altLang="en-US" b="1" dirty="0"/>
            <a:t> </a:t>
          </a:r>
          <a:r>
            <a:rPr lang="en-US" altLang="en-US" b="1" dirty="0" err="1"/>
            <a:t>quả</a:t>
          </a:r>
          <a:endParaRPr lang="vi-VN" altLang="en-US" b="1" dirty="0"/>
        </a:p>
      </dgm:t>
    </dgm:pt>
    <dgm:pt modelId="{729B1800-C96C-4DF6-8243-6528A96D2800}" type="parTrans" cxnId="{A9A76D4D-22C3-48E6-AC91-9A8756F987CF}">
      <dgm:prSet/>
      <dgm:spPr/>
      <dgm:t>
        <a:bodyPr/>
        <a:lstStyle/>
        <a:p>
          <a:endParaRPr lang="en-US"/>
        </a:p>
      </dgm:t>
    </dgm:pt>
    <dgm:pt modelId="{57E51362-E514-4A25-B6C5-3B25574D004F}" type="sibTrans" cxnId="{A9A76D4D-22C3-48E6-AC91-9A8756F987CF}">
      <dgm:prSet/>
      <dgm:spPr/>
      <dgm:t>
        <a:bodyPr/>
        <a:lstStyle/>
        <a:p>
          <a:endParaRPr lang="en-US"/>
        </a:p>
      </dgm:t>
    </dgm:pt>
    <dgm:pt modelId="{3F4C452C-5B02-4DF4-AEA1-67C0951CDE1A}">
      <dgm:prSet phldr="0" custT="0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4. H</a:t>
          </a:r>
          <a:r>
            <a:rPr lang="vi-VN" altLang="en-US" b="1" dirty="0"/>
            <a:t>ướng phát triển</a:t>
          </a:r>
          <a:r>
            <a:rPr lang="en-US" altLang="en-US" b="1" dirty="0"/>
            <a:t> </a:t>
          </a:r>
          <a:r>
            <a:rPr lang="en-US" altLang="en-US" b="1" dirty="0" err="1"/>
            <a:t>hệ</a:t>
          </a:r>
          <a:r>
            <a:rPr lang="en-US" altLang="en-US" b="1" dirty="0"/>
            <a:t> </a:t>
          </a:r>
          <a:r>
            <a:rPr lang="en-US" altLang="en-US" b="1" dirty="0" err="1"/>
            <a:t>thống</a:t>
          </a:r>
          <a:r>
            <a:rPr lang="en-US" b="1" dirty="0"/>
            <a:t> </a:t>
          </a:r>
          <a:endParaRPr dirty="0"/>
        </a:p>
      </dgm:t>
    </dgm:pt>
    <dgm:pt modelId="{E1AFB3D8-F402-4610-B5AB-F0C87B3D2070}" type="parTrans" cxnId="{C74DC87F-8840-4803-8775-0E73C73389E3}">
      <dgm:prSet/>
      <dgm:spPr/>
      <dgm:t>
        <a:bodyPr/>
        <a:lstStyle/>
        <a:p>
          <a:endParaRPr lang="en-US"/>
        </a:p>
      </dgm:t>
    </dgm:pt>
    <dgm:pt modelId="{970136DD-FCB6-47E7-92A1-1E0F4AA409A2}" type="sibTrans" cxnId="{C74DC87F-8840-4803-8775-0E73C73389E3}">
      <dgm:prSet/>
      <dgm:spPr/>
      <dgm:t>
        <a:bodyPr/>
        <a:lstStyle/>
        <a:p>
          <a:endParaRPr lang="en-US"/>
        </a:p>
      </dgm:t>
    </dgm:pt>
    <dgm:pt modelId="{4ADFD666-E10F-4863-B280-A23149EB0E99}" type="pres">
      <dgm:prSet presAssocID="{7E4ACC1A-02F5-41CA-A78C-0EC144B17F1C}" presName="linear" presStyleCnt="0">
        <dgm:presLayoutVars>
          <dgm:animLvl val="lvl"/>
          <dgm:resizeHandles val="exact"/>
        </dgm:presLayoutVars>
      </dgm:prSet>
      <dgm:spPr/>
    </dgm:pt>
    <dgm:pt modelId="{897F1381-CD99-4875-8C40-666F4B18C717}" type="pres">
      <dgm:prSet presAssocID="{CAFC2525-00BD-4074-9F2C-4E00F6F601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B1F348-7DD9-4E90-8368-B8A3469999E6}" type="pres">
      <dgm:prSet presAssocID="{B6E57F60-28D2-4A0E-A8DE-980F6D8A258F}" presName="spacer" presStyleCnt="0"/>
      <dgm:spPr/>
    </dgm:pt>
    <dgm:pt modelId="{85518FF9-D7E4-4CDC-B004-39D997C96298}" type="pres">
      <dgm:prSet presAssocID="{4EB5E810-64F5-4574-B5C8-A1A985A210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778C59-9B15-4F7E-A9C4-FA6862A1260A}" type="pres">
      <dgm:prSet presAssocID="{84C3ADDC-B272-4751-BF7F-7FE2482E6392}" presName="spacer" presStyleCnt="0"/>
      <dgm:spPr/>
    </dgm:pt>
    <dgm:pt modelId="{87C1C534-39F5-4E74-B5DC-26E8A6DE3008}" type="pres">
      <dgm:prSet presAssocID="{E34AA51F-46C4-4E87-9CBB-1F5241C434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C90C8C-7E61-47D8-A389-3C789B3FAED0}" type="pres">
      <dgm:prSet presAssocID="{57E51362-E514-4A25-B6C5-3B25574D004F}" presName="spacer" presStyleCnt="0"/>
      <dgm:spPr/>
    </dgm:pt>
    <dgm:pt modelId="{37213205-C2D9-4749-A906-58A0F39D8497}" type="pres">
      <dgm:prSet presAssocID="{3F4C452C-5B02-4DF4-AEA1-67C0951CDE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069736-05A3-48B6-B31D-0D2B9DEC0D5B}" type="presOf" srcId="{7E4ACC1A-02F5-41CA-A78C-0EC144B17F1C}" destId="{4ADFD666-E10F-4863-B280-A23149EB0E99}" srcOrd="0" destOrd="0" presId="urn:microsoft.com/office/officeart/2005/8/layout/vList2#2"/>
    <dgm:cxn modelId="{627F3F62-751D-411A-AFA5-D7B0A7CA8E5E}" srcId="{7E4ACC1A-02F5-41CA-A78C-0EC144B17F1C}" destId="{4EB5E810-64F5-4574-B5C8-A1A985A21018}" srcOrd="1" destOrd="0" parTransId="{C6DAC73D-6C01-4698-A81B-27E43C2C3639}" sibTransId="{84C3ADDC-B272-4751-BF7F-7FE2482E6392}"/>
    <dgm:cxn modelId="{A9A76D4D-22C3-48E6-AC91-9A8756F987CF}" srcId="{7E4ACC1A-02F5-41CA-A78C-0EC144B17F1C}" destId="{E34AA51F-46C4-4E87-9CBB-1F5241C43452}" srcOrd="2" destOrd="0" parTransId="{729B1800-C96C-4DF6-8243-6528A96D2800}" sibTransId="{57E51362-E514-4A25-B6C5-3B25574D004F}"/>
    <dgm:cxn modelId="{45949453-569C-492D-BD18-C2AAC9189243}" type="presOf" srcId="{E34AA51F-46C4-4E87-9CBB-1F5241C43452}" destId="{87C1C534-39F5-4E74-B5DC-26E8A6DE3008}" srcOrd="0" destOrd="0" presId="urn:microsoft.com/office/officeart/2005/8/layout/vList2#2"/>
    <dgm:cxn modelId="{C74DC87F-8840-4803-8775-0E73C73389E3}" srcId="{7E4ACC1A-02F5-41CA-A78C-0EC144B17F1C}" destId="{3F4C452C-5B02-4DF4-AEA1-67C0951CDE1A}" srcOrd="3" destOrd="0" parTransId="{E1AFB3D8-F402-4610-B5AB-F0C87B3D2070}" sibTransId="{970136DD-FCB6-47E7-92A1-1E0F4AA409A2}"/>
    <dgm:cxn modelId="{FB578499-AC62-4DBC-8997-A6060B695D8B}" srcId="{7E4ACC1A-02F5-41CA-A78C-0EC144B17F1C}" destId="{CAFC2525-00BD-4074-9F2C-4E00F6F60156}" srcOrd="0" destOrd="0" parTransId="{0D452094-EADC-47A8-8110-FBA9B37A6AFD}" sibTransId="{B6E57F60-28D2-4A0E-A8DE-980F6D8A258F}"/>
    <dgm:cxn modelId="{A86657CE-B898-4D36-9698-50C406904730}" type="presOf" srcId="{CAFC2525-00BD-4074-9F2C-4E00F6F60156}" destId="{897F1381-CD99-4875-8C40-666F4B18C717}" srcOrd="0" destOrd="0" presId="urn:microsoft.com/office/officeart/2005/8/layout/vList2#2"/>
    <dgm:cxn modelId="{AD966CE8-A113-4859-AAA0-E40F01428CD5}" type="presOf" srcId="{4EB5E810-64F5-4574-B5C8-A1A985A21018}" destId="{85518FF9-D7E4-4CDC-B004-39D997C96298}" srcOrd="0" destOrd="0" presId="urn:microsoft.com/office/officeart/2005/8/layout/vList2#2"/>
    <dgm:cxn modelId="{475A40FF-7F5A-470C-988E-72701C4BD24A}" type="presOf" srcId="{3F4C452C-5B02-4DF4-AEA1-67C0951CDE1A}" destId="{37213205-C2D9-4749-A906-58A0F39D8497}" srcOrd="0" destOrd="0" presId="urn:microsoft.com/office/officeart/2005/8/layout/vList2#2"/>
    <dgm:cxn modelId="{48B18A14-FED6-4022-ADE4-D4E048B92782}" type="presParOf" srcId="{4ADFD666-E10F-4863-B280-A23149EB0E99}" destId="{897F1381-CD99-4875-8C40-666F4B18C717}" srcOrd="0" destOrd="0" presId="urn:microsoft.com/office/officeart/2005/8/layout/vList2#2"/>
    <dgm:cxn modelId="{3804958D-9F96-4FD1-827B-50AF6AC961DA}" type="presParOf" srcId="{4ADFD666-E10F-4863-B280-A23149EB0E99}" destId="{13B1F348-7DD9-4E90-8368-B8A3469999E6}" srcOrd="1" destOrd="0" presId="urn:microsoft.com/office/officeart/2005/8/layout/vList2#2"/>
    <dgm:cxn modelId="{5191C744-402F-4812-80BA-9005AAABEC03}" type="presParOf" srcId="{4ADFD666-E10F-4863-B280-A23149EB0E99}" destId="{85518FF9-D7E4-4CDC-B004-39D997C96298}" srcOrd="2" destOrd="0" presId="urn:microsoft.com/office/officeart/2005/8/layout/vList2#2"/>
    <dgm:cxn modelId="{5EB14D04-FC4B-43B5-B4BF-5F028CC86FC1}" type="presParOf" srcId="{4ADFD666-E10F-4863-B280-A23149EB0E99}" destId="{E6778C59-9B15-4F7E-A9C4-FA6862A1260A}" srcOrd="3" destOrd="0" presId="urn:microsoft.com/office/officeart/2005/8/layout/vList2#2"/>
    <dgm:cxn modelId="{3DD7E911-6D84-436F-AD12-EE8FCEB31E0D}" type="presParOf" srcId="{4ADFD666-E10F-4863-B280-A23149EB0E99}" destId="{87C1C534-39F5-4E74-B5DC-26E8A6DE3008}" srcOrd="4" destOrd="0" presId="urn:microsoft.com/office/officeart/2005/8/layout/vList2#2"/>
    <dgm:cxn modelId="{2E371DAA-F297-47D1-96E4-1A11176D9F5E}" type="presParOf" srcId="{4ADFD666-E10F-4863-B280-A23149EB0E99}" destId="{4BC90C8C-7E61-47D8-A389-3C789B3FAED0}" srcOrd="5" destOrd="0" presId="urn:microsoft.com/office/officeart/2005/8/layout/vList2#2"/>
    <dgm:cxn modelId="{1D1CC057-FBCA-404E-B4C0-FA8B63F8E79B}" type="presParOf" srcId="{4ADFD666-E10F-4863-B280-A23149EB0E99}" destId="{37213205-C2D9-4749-A906-58A0F39D8497}" srcOrd="6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F1381-CD99-4875-8C40-666F4B18C717}">
      <dsp:nvSpPr>
        <dsp:cNvPr id="0" name=""/>
        <dsp:cNvSpPr/>
      </dsp:nvSpPr>
      <dsp:spPr bwMode="white">
        <a:xfrm>
          <a:off x="0" y="275474"/>
          <a:ext cx="7782817" cy="9124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1. </a:t>
          </a:r>
          <a:r>
            <a:rPr lang="vi-VN" altLang="en-US" sz="3600" b="1" kern="1200" dirty="0"/>
            <a:t>Giới thiệu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bối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cảnh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tuyển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dụng</a:t>
          </a:r>
          <a:endParaRPr lang="vi-VN" altLang="en-US" sz="3600" b="1" kern="1200" dirty="0"/>
        </a:p>
      </dsp:txBody>
      <dsp:txXfrm>
        <a:off x="0" y="275474"/>
        <a:ext cx="7782817" cy="912495"/>
      </dsp:txXfrm>
    </dsp:sp>
    <dsp:sp modelId="{85518FF9-D7E4-4CDC-B004-39D997C96298}">
      <dsp:nvSpPr>
        <dsp:cNvPr id="0" name=""/>
        <dsp:cNvSpPr/>
      </dsp:nvSpPr>
      <dsp:spPr bwMode="white">
        <a:xfrm>
          <a:off x="0" y="1291648"/>
          <a:ext cx="7782817" cy="9124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2. </a:t>
          </a:r>
          <a:r>
            <a:rPr lang="vi-VN" altLang="en-US" sz="3600" b="1" kern="1200" dirty="0"/>
            <a:t>Phương pháp </a:t>
          </a:r>
          <a:r>
            <a:rPr lang="en-US" altLang="en-US" sz="3600" b="1" kern="1200" dirty="0"/>
            <a:t>RAG </a:t>
          </a:r>
          <a:r>
            <a:rPr lang="en-US" altLang="en-US" sz="3600" b="1" kern="1200" dirty="0" err="1"/>
            <a:t>đề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xuất</a:t>
          </a:r>
          <a:endParaRPr lang="vi-VN" altLang="en-US" sz="3600" b="1" kern="1200" dirty="0"/>
        </a:p>
      </dsp:txBody>
      <dsp:txXfrm>
        <a:off x="0" y="1291648"/>
        <a:ext cx="7782817" cy="912495"/>
      </dsp:txXfrm>
    </dsp:sp>
    <dsp:sp modelId="{87C1C534-39F5-4E74-B5DC-26E8A6DE3008}">
      <dsp:nvSpPr>
        <dsp:cNvPr id="0" name=""/>
        <dsp:cNvSpPr/>
      </dsp:nvSpPr>
      <dsp:spPr bwMode="white">
        <a:xfrm>
          <a:off x="0" y="2307824"/>
          <a:ext cx="7782817" cy="9124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3. </a:t>
          </a:r>
          <a:r>
            <a:rPr lang="en-US" altLang="en-US" sz="3600" b="1" kern="1200" dirty="0" err="1"/>
            <a:t>Thảo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luận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về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kết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quả</a:t>
          </a:r>
          <a:endParaRPr lang="vi-VN" altLang="en-US" sz="3600" b="1" kern="1200" dirty="0"/>
        </a:p>
      </dsp:txBody>
      <dsp:txXfrm>
        <a:off x="0" y="2307824"/>
        <a:ext cx="7782817" cy="912495"/>
      </dsp:txXfrm>
    </dsp:sp>
    <dsp:sp modelId="{37213205-C2D9-4749-A906-58A0F39D8497}">
      <dsp:nvSpPr>
        <dsp:cNvPr id="0" name=""/>
        <dsp:cNvSpPr/>
      </dsp:nvSpPr>
      <dsp:spPr bwMode="white">
        <a:xfrm>
          <a:off x="0" y="3323999"/>
          <a:ext cx="7782817" cy="9124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4. H</a:t>
          </a:r>
          <a:r>
            <a:rPr lang="vi-VN" altLang="en-US" sz="3600" b="1" kern="1200" dirty="0"/>
            <a:t>ướng phát triển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hệ</a:t>
          </a:r>
          <a:r>
            <a:rPr lang="en-US" altLang="en-US" sz="3600" b="1" kern="1200" dirty="0"/>
            <a:t> </a:t>
          </a:r>
          <a:r>
            <a:rPr lang="en-US" altLang="en-US" sz="3600" b="1" kern="1200" dirty="0" err="1"/>
            <a:t>thống</a:t>
          </a:r>
          <a:r>
            <a:rPr lang="en-US" sz="3600" b="1" kern="1200" dirty="0"/>
            <a:t> </a:t>
          </a:r>
          <a:endParaRPr sz="3600" kern="1200" dirty="0"/>
        </a:p>
      </dsp:txBody>
      <dsp:txXfrm>
        <a:off x="0" y="3323999"/>
        <a:ext cx="7782817" cy="912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2D5A3-CE73-8C4A-B3BB-FF0522B1DBB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ABCEF-CEDD-A249-BA17-94E9841E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75C1788-91A3-373E-256B-8CB577A2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C0E1B5D-642D-6445-242E-A0BB81EB3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B0F949B6-60EB-8181-A321-A6912E61D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3422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0FAA4C0-8CF4-E76E-1B3D-18C64506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A1A2B6C6-2D0B-223F-730C-530B87610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60FA9C1-1766-11AF-0ED7-880D01BE7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6340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5A7801F-3CE4-1866-F75B-A7D24B26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7783785-8863-3D47-B637-FA3128455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93F5D59A-B108-3187-55AB-970306D5E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24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8FA8-326F-304E-8AFA-41C3970891BC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5830" y="0"/>
            <a:ext cx="7091987" cy="1176661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EF84-224F-ED4D-A264-6BB638E322B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C4D8F-79A3-6D46-BB9B-0500442FCEC2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56FD-1CD9-9241-902B-336EDC8D402D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417F-E2D5-DB4D-BA61-FA4D6D93CB34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769-85A1-364F-A77B-89D72CA61909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D1D5F-765A-8548-8651-8593A8B095D3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BDEE0-4CE2-474E-9ECA-81587B1971E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7BCA-06EE-1A42-9D10-8F8A7D9D053C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31B8-EA89-0947-9E63-55C906A9F901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12A8-4F77-2A40-8BD1-5B679CF9734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8312" l="422" r="95570">
                        <a14:foregroundMark x1="1506" y1="48078" x2="1055" y2="48523"/>
                        <a14:foregroundMark x1="46597" y1="3586" x2="46290" y2="3889"/>
                        <a14:foregroundMark x1="48734" y1="1477" x2="46597" y2="3586"/>
                        <a14:foregroundMark x1="1694" y1="49156" x2="48312" y2="95359"/>
                        <a14:foregroundMark x1="1055" y1="48523" x2="1694" y2="49156"/>
                        <a14:foregroundMark x1="48312" y1="95359" x2="90928" y2="58017"/>
                        <a14:foregroundMark x1="90928" y1="58017" x2="86709" y2="41983"/>
                        <a14:foregroundMark x1="86709" y1="41983" x2="49789" y2="1055"/>
                        <a14:foregroundMark x1="49578" y1="4852" x2="5063" y2="54430"/>
                        <a14:foregroundMark x1="5063" y1="54430" x2="24684" y2="59283"/>
                        <a14:foregroundMark x1="24684" y1="59283" x2="41983" y2="73207"/>
                        <a14:foregroundMark x1="12658" y1="48312" x2="57595" y2="80591"/>
                        <a14:foregroundMark x1="57595" y1="80591" x2="62987" y2="86846"/>
                        <a14:foregroundMark x1="56818" y1="93348" x2="49789" y2="93671"/>
                        <a14:foregroundMark x1="49789" y1="93671" x2="53165" y2="75949"/>
                        <a14:foregroundMark x1="53165" y1="75949" x2="67300" y2="56540"/>
                        <a14:foregroundMark x1="67300" y1="56540" x2="80802" y2="46203"/>
                        <a14:foregroundMark x1="80802" y1="46203" x2="87975" y2="61392"/>
                        <a14:foregroundMark x1="87975" y1="61392" x2="71308" y2="63080"/>
                        <a14:foregroundMark x1="71308" y1="63080" x2="71308" y2="61814"/>
                        <a14:foregroundMark x1="81857" y1="56329" x2="58650" y2="76160"/>
                        <a14:foregroundMark x1="79536" y1="42827" x2="58439" y2="67932"/>
                        <a14:foregroundMark x1="92194" y1="46414" x2="89030" y2="55063"/>
                        <a14:foregroundMark x1="95570" y1="51899" x2="95570" y2="51899"/>
                        <a14:foregroundMark x1="95570" y1="50844" x2="95570" y2="50844"/>
                        <a14:foregroundMark x1="49789" y1="37342" x2="49789" y2="37342"/>
                        <a14:foregroundMark x1="48734" y1="35232" x2="48734" y2="35232"/>
                        <a14:foregroundMark x1="49789" y1="32489" x2="49789" y2="32489"/>
                        <a14:foregroundMark x1="50211" y1="36920" x2="50211" y2="36920"/>
                        <a14:foregroundMark x1="50211" y1="37342" x2="49789" y2="47257"/>
                        <a14:foregroundMark x1="48734" y1="22996" x2="48734" y2="64557"/>
                        <a14:foregroundMark x1="48523" y1="98312" x2="48523" y2="98312"/>
                        <a14:foregroundMark x1="48101" y1="98734" x2="48101" y2="98734"/>
                        <a14:foregroundMark x1="41983" y1="75949" x2="41983" y2="75949"/>
                        <a14:foregroundMark x1="41983" y1="76793" x2="41983" y2="76793"/>
                        <a14:foregroundMark x1="48101" y1="2110" x2="48101" y2="2110"/>
                        <a14:foregroundMark x1="47890" y1="1477" x2="47890" y2="1477"/>
                        <a14:foregroundMark x1="48734" y1="0" x2="48734" y2="0"/>
                        <a14:foregroundMark x1="70253" y1="37975" x2="70253" y2="37975"/>
                        <a14:foregroundMark x1="65823" y1="67300" x2="65823" y2="67300"/>
                        <a14:foregroundMark x1="422" y1="50000" x2="422" y2="50000"/>
                        <a14:foregroundMark x1="2743" y1="52954" x2="2743" y2="52954"/>
                        <a14:foregroundMark x1="52954" y1="16034" x2="60759" y2="27004"/>
                        <a14:foregroundMark x1="76371" y1="52321" x2="68565" y2="62447"/>
                        <a14:foregroundMark x1="68987" y1="31435" x2="68987" y2="31435"/>
                        <a14:foregroundMark x1="68987" y1="31435" x2="55907" y2="24051"/>
                        <a14:foregroundMark x1="60759" y1="20886" x2="43038" y2="26371"/>
                        <a14:foregroundMark x1="33755" y1="26793" x2="17722" y2="43460"/>
                        <a14:foregroundMark x1="59072" y1="23629" x2="71308" y2="37342"/>
                        <a14:foregroundMark x1="71308" y1="37342" x2="83966" y2="43882"/>
                        <a14:foregroundMark x1="60338" y1="22996" x2="91561" y2="47257"/>
                        <a14:backgroundMark x1="10222" y1="34474" x2="0" y2="5063"/>
                        <a14:backgroundMark x1="0" y1="5063" x2="29325" y2="0"/>
                        <a14:backgroundMark x1="47343" y1="375" x2="49578" y2="422"/>
                        <a14:backgroundMark x1="29325" y1="0" x2="44832" y2="323"/>
                        <a14:backgroundMark x1="63080" y1="92827" x2="63080" y2="92827"/>
                        <a14:backgroundMark x1="67300" y1="90928" x2="61814" y2="93249"/>
                        <a14:backgroundMark x1="64768" y1="88186" x2="58650" y2="94726"/>
                        <a14:backgroundMark x1="46835" y1="99789" x2="46835" y2="99789"/>
                        <a14:backgroundMark x1="47890" y1="99789" x2="47890" y2="99789"/>
                        <a14:backgroundMark x1="46835" y1="99156" x2="46835" y2="99156"/>
                        <a14:backgroundMark x1="46835" y1="98734" x2="46835" y2="98734"/>
                        <a14:backgroundMark x1="47046" y1="99156" x2="47046" y2="99156"/>
                        <a14:backgroundMark x1="45148" y1="3586" x2="45148" y2="3586"/>
                        <a14:backgroundMark x1="45359" y1="3165" x2="1266" y2="47890"/>
                        <a14:backgroundMark x1="0" y1="49156" x2="0" y2="49156"/>
                        <a14:backgroundMark x1="1688" y1="54641" x2="1688" y2="54641"/>
                        <a14:backgroundMark x1="1266" y1="54008" x2="1266" y2="540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176660" cy="117666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5830" y="0"/>
            <a:ext cx="7091987" cy="1176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4301"/>
            <a:ext cx="7979166" cy="4846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53AD5-9CA1-6445-B9CB-05D082BE5AE3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www.cit.ctu.edu.vn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CA2D9-6A4B-4743-9F7C-CF6FC0623F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198176"/>
            <a:ext cx="9144000" cy="114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33127"/>
            <a:ext cx="9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v"/>
        <a:defRPr sz="2800" b="1" kern="1200">
          <a:solidFill>
            <a:srgbClr val="0070C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70C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32737" y="6470652"/>
            <a:ext cx="2057400" cy="365125"/>
          </a:xfrm>
        </p:spPr>
        <p:txBody>
          <a:bodyPr/>
          <a:lstStyle/>
          <a:p>
            <a:fld id="{53FCA2D9-6A4B-4743-9F7C-CF6FC0623F3A}" type="slidenum">
              <a:rPr lang="en-US" smtClean="0">
                <a:latin typeface="+mn-lt"/>
              </a:rPr>
              <a:t>1</a:t>
            </a:fld>
            <a:endParaRPr lang="en-US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10160"/>
            <a:ext cx="1270000" cy="1161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TU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" y="283261"/>
            <a:ext cx="1843405" cy="184404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692910" y="307975"/>
            <a:ext cx="705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2000" b="1">
                <a:solidFill>
                  <a:schemeClr val="bg2">
                    <a:lumMod val="25000"/>
                  </a:schemeClr>
                </a:solidFill>
                <a:latin typeface="+mn-lt"/>
              </a:rPr>
              <a:t>ĐẠI HỌC CẦN THƠ </a:t>
            </a:r>
          </a:p>
          <a:p>
            <a:pPr algn="ctr"/>
            <a:r>
              <a:rPr lang="vi-VN" altLang="en-US" sz="2000" b="1">
                <a:solidFill>
                  <a:schemeClr val="bg2">
                    <a:lumMod val="25000"/>
                  </a:schemeClr>
                </a:solidFill>
                <a:latin typeface="+mn-lt"/>
              </a:rPr>
              <a:t>TRƯỜNG CÔNG NGHỆ THÔNG TIN VÀ TRUYỀN THÔNG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309370" y="1323324"/>
            <a:ext cx="6525260" cy="1395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vi-VN" altLang="en-US" sz="2400" b="1" dirty="0">
                <a:latin typeface="+mn-lt"/>
              </a:rPr>
              <a:t>BÁO CÁO HỌC PHẦN </a:t>
            </a:r>
          </a:p>
          <a:p>
            <a:pPr algn="ctr">
              <a:lnSpc>
                <a:spcPct val="150000"/>
              </a:lnSpc>
            </a:pPr>
            <a:r>
              <a:rPr lang="en-US" altLang="en-US" sz="2400" b="1" dirty="0">
                <a:latin typeface="+mn-lt"/>
              </a:rPr>
              <a:t>NĂNG LỰC SỐ NÂNG CAO</a:t>
            </a:r>
            <a:endParaRPr lang="vi-VN" altLang="en-US" sz="2400" b="1" dirty="0">
              <a:latin typeface="+mn-lt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47752" y="2587991"/>
            <a:ext cx="848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1600" b="1" dirty="0">
                <a:solidFill>
                  <a:srgbClr val="C00000"/>
                </a:solidFill>
                <a:latin typeface="+mn-lt"/>
              </a:rPr>
              <a:t>ĐỀ TÀI</a:t>
            </a:r>
          </a:p>
        </p:txBody>
      </p:sp>
      <p:sp>
        <p:nvSpPr>
          <p:cNvPr id="15" name="Text Box 10"/>
          <p:cNvSpPr txBox="1"/>
          <p:nvPr/>
        </p:nvSpPr>
        <p:spPr>
          <a:xfrm>
            <a:off x="0" y="3092908"/>
            <a:ext cx="9144000" cy="1395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178435" algn="ctr">
              <a:spcBef>
                <a:spcPts val="300"/>
              </a:spcBef>
              <a:spcAft>
                <a:spcPts val="300"/>
              </a:spcAft>
            </a:pPr>
            <a:r>
              <a:rPr lang="en-US" sz="2700" b="1" dirty="0">
                <a:solidFill>
                  <a:srgbClr val="FF0000"/>
                </a:solidFill>
                <a:latin typeface="Arial (Body)"/>
                <a:cs typeface="AkayaTelivigala" pitchFamily="2" charset="77"/>
              </a:rPr>
              <a:t>HỆ THỐNG CHATBOT HỖ TRỢ TUYỂN DỤNG</a:t>
            </a:r>
          </a:p>
          <a:p>
            <a:pPr marR="178435" algn="ctr">
              <a:spcBef>
                <a:spcPts val="300"/>
              </a:spcBef>
              <a:spcAft>
                <a:spcPts val="300"/>
              </a:spcAft>
            </a:pPr>
            <a:r>
              <a:rPr lang="en-US" sz="2700" b="1" dirty="0">
                <a:solidFill>
                  <a:srgbClr val="FF0000"/>
                </a:solidFill>
                <a:latin typeface="Arial (Body)"/>
                <a:cs typeface="AkayaTelivigala" pitchFamily="2" charset="77"/>
              </a:rPr>
              <a:t>DỰA TRÊN RETRIEVAL-AUGMENTED GENERATION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1190" y="4639702"/>
          <a:ext cx="7321620" cy="17059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0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0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255">
                <a:tc>
                  <a:txBody>
                    <a:bodyPr/>
                    <a:lstStyle/>
                    <a:p>
                      <a:r>
                        <a:rPr lang="en-US" b="1" u="sng" dirty="0" err="1">
                          <a:solidFill>
                            <a:srgbClr val="00B050"/>
                          </a:solidFill>
                        </a:rPr>
                        <a:t>Nhóm</a:t>
                      </a:r>
                      <a:r>
                        <a:rPr lang="en-US" b="1" u="sng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u="sng" baseline="0" dirty="0" err="1">
                          <a:solidFill>
                            <a:srgbClr val="00B050"/>
                          </a:solidFill>
                        </a:rPr>
                        <a:t>học</a:t>
                      </a:r>
                      <a:r>
                        <a:rPr lang="en-US" b="1" u="sng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u="sng" baseline="0" dirty="0" err="1">
                          <a:solidFill>
                            <a:srgbClr val="00B050"/>
                          </a:solidFill>
                        </a:rPr>
                        <a:t>viên</a:t>
                      </a:r>
                      <a:r>
                        <a:rPr lang="en-US" b="1" u="sng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u="sng" baseline="0" dirty="0" err="1">
                          <a:solidFill>
                            <a:srgbClr val="00B050"/>
                          </a:solidFill>
                        </a:rPr>
                        <a:t>thực</a:t>
                      </a:r>
                      <a:r>
                        <a:rPr lang="en-US" b="1" u="sng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u="sng" baseline="0" dirty="0" err="1">
                          <a:solidFill>
                            <a:srgbClr val="00B050"/>
                          </a:solidFill>
                        </a:rPr>
                        <a:t>hiện</a:t>
                      </a:r>
                      <a:endParaRPr lang="en-US" b="1" u="sng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Người</a:t>
                      </a:r>
                      <a:r>
                        <a:rPr lang="en-US" b="1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rgbClr val="00B050"/>
                          </a:solidFill>
                        </a:rPr>
                        <a:t>hướng</a:t>
                      </a:r>
                      <a:r>
                        <a:rPr lang="en-US" b="1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rgbClr val="00B050"/>
                          </a:solidFill>
                        </a:rPr>
                        <a:t>dẫn</a:t>
                      </a:r>
                      <a:r>
                        <a:rPr lang="en-US" b="1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rgbClr val="00B050"/>
                          </a:solidFill>
                        </a:rPr>
                        <a:t>khoa</a:t>
                      </a:r>
                      <a:r>
                        <a:rPr lang="en-US" b="1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rgbClr val="00B050"/>
                          </a:solidFill>
                        </a:rPr>
                        <a:t>học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151">
                <a:tc>
                  <a:txBody>
                    <a:bodyPr/>
                    <a:lstStyle/>
                    <a:p>
                      <a:r>
                        <a:rPr lang="en-US" b="1" dirty="0" err="1"/>
                        <a:t>Đổ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Hiếu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Nghĩa</a:t>
                      </a:r>
                      <a:r>
                        <a:rPr lang="en-US" b="1" baseline="0" dirty="0"/>
                        <a:t> – M3725025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TS. </a:t>
                      </a:r>
                      <a:r>
                        <a:rPr lang="en-US" b="1" dirty="0" err="1"/>
                        <a:t>Trần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Nguyễn</a:t>
                      </a:r>
                      <a:r>
                        <a:rPr lang="en-US" b="1" baseline="0" dirty="0"/>
                        <a:t> Minh </a:t>
                      </a:r>
                      <a:r>
                        <a:rPr lang="en-US" b="1" baseline="0" dirty="0" err="1"/>
                        <a:t>Thư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533">
                <a:tc>
                  <a:txBody>
                    <a:bodyPr/>
                    <a:lstStyle/>
                    <a:p>
                      <a:r>
                        <a:rPr lang="en-US" b="1" dirty="0" err="1"/>
                        <a:t>Nguyễn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Tuấn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Kiệt</a:t>
                      </a:r>
                      <a:r>
                        <a:rPr lang="en-US" b="1" baseline="0" dirty="0"/>
                        <a:t> – M3725022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vi-VN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Nội dung báo cáo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3" name="Diagram 2"/>
          <p:cNvGraphicFramePr/>
          <p:nvPr/>
        </p:nvGraphicFramePr>
        <p:xfrm>
          <a:off x="733168" y="1664043"/>
          <a:ext cx="7782817" cy="4511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Giới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thiệu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bối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cảnh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tuyển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dụng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63" y="1803262"/>
            <a:ext cx="1994381" cy="19943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73" y="1612969"/>
            <a:ext cx="1746421" cy="10478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399" y="1791856"/>
            <a:ext cx="3185612" cy="212721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2983192" y="2643933"/>
            <a:ext cx="1145059" cy="31303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20516743">
            <a:off x="4689047" y="1695700"/>
            <a:ext cx="189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This task takes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a lot of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258" y="4178279"/>
            <a:ext cx="7339916" cy="1920746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6" t="10811" r="4354" b="10991"/>
          <a:stretch>
            <a:fillRect/>
          </a:stretch>
        </p:blipFill>
        <p:spPr>
          <a:xfrm>
            <a:off x="1063507" y="4474546"/>
            <a:ext cx="1532237" cy="1328211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 flipH="1">
            <a:off x="2983192" y="5023321"/>
            <a:ext cx="1010230" cy="3807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0" y="4406612"/>
            <a:ext cx="1245573" cy="146407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0" t="10452" r="6017" b="10101"/>
          <a:stretch>
            <a:fillRect/>
          </a:stretch>
        </p:blipFill>
        <p:spPr>
          <a:xfrm>
            <a:off x="5733279" y="4406612"/>
            <a:ext cx="2313596" cy="14640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Giới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thiệu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bối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cảnh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tuyển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dụng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62" y="1775953"/>
            <a:ext cx="2572542" cy="1716892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>
          <a:xfrm>
            <a:off x="3024381" y="2477880"/>
            <a:ext cx="1145059" cy="31303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135" y="1775954"/>
            <a:ext cx="2095492" cy="23923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4" t="8101" r="27043" b="10306"/>
          <a:stretch>
            <a:fillRect/>
          </a:stretch>
        </p:blipFill>
        <p:spPr>
          <a:xfrm>
            <a:off x="7366311" y="3822357"/>
            <a:ext cx="1415223" cy="2446802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 rot="2643459">
            <a:off x="6659118" y="4158244"/>
            <a:ext cx="867211" cy="34246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6369387" y="5355147"/>
            <a:ext cx="169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VectorStore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7471718" y="3356319"/>
            <a:ext cx="1204407" cy="410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5717" y="2733354"/>
            <a:ext cx="1210408" cy="410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Resume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0" t="10452" r="6017" b="10101"/>
          <a:stretch>
            <a:fillRect/>
          </a:stretch>
        </p:blipFill>
        <p:spPr>
          <a:xfrm>
            <a:off x="3079465" y="4892273"/>
            <a:ext cx="2313596" cy="1464077"/>
          </a:xfrm>
          <a:prstGeom prst="rect">
            <a:avLst/>
          </a:prstGeom>
        </p:spPr>
      </p:pic>
      <p:sp>
        <p:nvSpPr>
          <p:cNvPr id="25" name="Right Arrow 24"/>
          <p:cNvSpPr/>
          <p:nvPr/>
        </p:nvSpPr>
        <p:spPr>
          <a:xfrm rot="10800000">
            <a:off x="5517588" y="5472180"/>
            <a:ext cx="867211" cy="34246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96562" y="5147297"/>
            <a:ext cx="1454403" cy="10710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/>
              <a:t>Trả</a:t>
            </a:r>
            <a:r>
              <a:rPr lang="en-US" sz="2200" dirty="0"/>
              <a:t> </a:t>
            </a:r>
            <a:r>
              <a:rPr lang="en-US" sz="2200" dirty="0" err="1"/>
              <a:t>lời</a:t>
            </a:r>
            <a:endParaRPr lang="en-US" sz="2200" dirty="0"/>
          </a:p>
        </p:txBody>
      </p:sp>
      <p:sp>
        <p:nvSpPr>
          <p:cNvPr id="27" name="Right Arrow 26"/>
          <p:cNvSpPr/>
          <p:nvPr/>
        </p:nvSpPr>
        <p:spPr>
          <a:xfrm rot="10800000">
            <a:off x="2087728" y="5488673"/>
            <a:ext cx="867211" cy="34246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/>
          <p:cNvSpPr/>
          <p:nvPr/>
        </p:nvSpPr>
        <p:spPr>
          <a:xfrm>
            <a:off x="700216" y="3904900"/>
            <a:ext cx="420130" cy="987373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2"/>
                </a:solidFill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6562" y="3014652"/>
            <a:ext cx="1046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C9FCF85-58A4-FF17-ED71-A1FCC497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5F07C13-5F80-FF9E-F5A2-FA5590628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Phương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pháp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RAG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đề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xuất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28AD8-8C12-DD8D-4B5B-7090E6C0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5</a:t>
            </a:fld>
            <a:endParaRPr lang="en-US"/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761EACAD-E928-3F95-7B87-782ECE20BD40}"/>
              </a:ext>
            </a:extLst>
          </p:cNvPr>
          <p:cNvSpPr txBox="1">
            <a:spLocks/>
          </p:cNvSpPr>
          <p:nvPr/>
        </p:nvSpPr>
        <p:spPr>
          <a:xfrm>
            <a:off x="354615" y="1223310"/>
            <a:ext cx="7952740" cy="8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>
              <a:buClrTx/>
              <a:buFontTx/>
            </a:pP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Một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số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mẫu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dữ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liệu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EA972-0286-B50C-651B-B82153253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99" y="1931621"/>
            <a:ext cx="3312367" cy="4424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851931-C4AB-1E9E-F5EE-462C2309C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176" y="1511559"/>
            <a:ext cx="3798425" cy="474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9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Phương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pháp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RAG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đề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xuất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8" y="2392929"/>
            <a:ext cx="901014" cy="90101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2067697" y="2866769"/>
            <a:ext cx="1021492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365293" y="2636109"/>
            <a:ext cx="1581664" cy="832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 text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5293" y="3575223"/>
            <a:ext cx="1581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Tiền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endParaRPr lang="en-US" sz="1800" dirty="0"/>
          </a:p>
        </p:txBody>
      </p:sp>
      <p:sp>
        <p:nvSpPr>
          <p:cNvPr id="9" name="Rounded Rectangle 8"/>
          <p:cNvSpPr/>
          <p:nvPr/>
        </p:nvSpPr>
        <p:spPr>
          <a:xfrm>
            <a:off x="6457950" y="2636109"/>
            <a:ext cx="1961120" cy="832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Tách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văn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bản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thành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chunks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23061" y="2866769"/>
            <a:ext cx="1021492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499140" y="4510217"/>
            <a:ext cx="1961120" cy="832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multiligual-e5-base</a:t>
            </a:r>
          </a:p>
        </p:txBody>
      </p:sp>
      <p:sp>
        <p:nvSpPr>
          <p:cNvPr id="13" name="Right Arrow 12"/>
          <p:cNvSpPr/>
          <p:nvPr/>
        </p:nvSpPr>
        <p:spPr>
          <a:xfrm rot="5400000">
            <a:off x="7127447" y="3840979"/>
            <a:ext cx="684170" cy="3009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0800000">
            <a:off x="5223061" y="4740877"/>
            <a:ext cx="1021492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259949" y="4680693"/>
            <a:ext cx="19631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/>
              <a:t>Embeddings</a:t>
            </a:r>
            <a:endParaRPr lang="en-US" sz="2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034214" y="5436829"/>
            <a:ext cx="2858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sentence-transformers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" r="6141"/>
          <a:stretch>
            <a:fillRect/>
          </a:stretch>
        </p:blipFill>
        <p:spPr>
          <a:xfrm>
            <a:off x="442401" y="4594193"/>
            <a:ext cx="1416908" cy="1626047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 rot="10800000">
            <a:off x="2067697" y="4740878"/>
            <a:ext cx="1021492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07445" y="6154336"/>
            <a:ext cx="156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VectorStore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500067" y="4259987"/>
            <a:ext cx="1295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FAISS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183" y="3326896"/>
            <a:ext cx="1295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35 </a:t>
            </a:r>
            <a:r>
              <a:rPr lang="en-US" sz="2000" dirty="0" err="1"/>
              <a:t>mẫu</a:t>
            </a:r>
            <a:endParaRPr lang="en-US" sz="2000" dirty="0"/>
          </a:p>
        </p:txBody>
      </p:sp>
      <p:sp>
        <p:nvSpPr>
          <p:cNvPr id="24" name="Google Shape;100;p2"/>
          <p:cNvSpPr txBox="1"/>
          <p:nvPr/>
        </p:nvSpPr>
        <p:spPr>
          <a:xfrm>
            <a:off x="609478" y="1329056"/>
            <a:ext cx="4337479" cy="846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>
              <a:buClrTx/>
              <a:buFontTx/>
            </a:pP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Tạo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vectorDB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từ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dữ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liệu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CV</a:t>
            </a:r>
            <a:endParaRPr lang="vi-VN" altLang="en-US" sz="28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43630" y="51206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1800" b="1"/>
              <a:t>768 chiều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329680" y="58369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1800" b="1"/>
              <a:t> ~278 triệu tham số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Phương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pháp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RAG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đề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xuất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21002" y="1521734"/>
            <a:ext cx="2394257" cy="261471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/>
              <a:t>RETRIEVER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7</a:t>
            </a:fld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268869" y="2866769"/>
            <a:ext cx="869754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315867" y="2759675"/>
            <a:ext cx="1346750" cy="56841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QA_chain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30479" y="1927653"/>
            <a:ext cx="2175305" cy="832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Tạo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embeddings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câu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hỏi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6960770" y="4526210"/>
            <a:ext cx="684170" cy="3009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0800000">
            <a:off x="2103839" y="5265334"/>
            <a:ext cx="911729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24076" y="5515780"/>
            <a:ext cx="2109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context + </a:t>
            </a:r>
            <a:r>
              <a:rPr lang="en-US" sz="1800" b="1" dirty="0" err="1"/>
              <a:t>câu</a:t>
            </a:r>
            <a:r>
              <a:rPr lang="en-US" sz="1800" b="1" dirty="0"/>
              <a:t> </a:t>
            </a:r>
            <a:r>
              <a:rPr lang="en-US" sz="1800" b="1" dirty="0" err="1"/>
              <a:t>hỏi</a:t>
            </a:r>
            <a:endParaRPr lang="en-US" sz="1800" b="1" dirty="0"/>
          </a:p>
          <a:p>
            <a:r>
              <a:rPr lang="en-US" sz="1800" b="1" dirty="0"/>
              <a:t>= prompt</a:t>
            </a:r>
          </a:p>
        </p:txBody>
      </p:sp>
      <p:sp>
        <p:nvSpPr>
          <p:cNvPr id="20" name="Right Arrow 19"/>
          <p:cNvSpPr/>
          <p:nvPr/>
        </p:nvSpPr>
        <p:spPr>
          <a:xfrm rot="10800000">
            <a:off x="5589648" y="5266019"/>
            <a:ext cx="679621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58869" y="2796525"/>
            <a:ext cx="156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Câu</a:t>
            </a:r>
            <a:r>
              <a:rPr lang="en-US" sz="2400" b="1" dirty="0"/>
              <a:t> </a:t>
            </a:r>
            <a:r>
              <a:rPr lang="en-US" sz="2400" b="1" dirty="0" err="1"/>
              <a:t>hỏi</a:t>
            </a:r>
            <a:endParaRPr lang="en-US" sz="2400" b="1" dirty="0"/>
          </a:p>
        </p:txBody>
      </p:sp>
      <p:sp>
        <p:nvSpPr>
          <p:cNvPr id="24" name="Google Shape;100;p2"/>
          <p:cNvSpPr txBox="1"/>
          <p:nvPr/>
        </p:nvSpPr>
        <p:spPr>
          <a:xfrm>
            <a:off x="458869" y="1355540"/>
            <a:ext cx="4337479" cy="846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>
              <a:buClrTx/>
              <a:buFontTx/>
            </a:pP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Quy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trình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truy</a:t>
            </a:r>
            <a:r>
              <a:rPr lang="en-US" alt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28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vấn</a:t>
            </a:r>
            <a:endParaRPr lang="vi-VN" altLang="en-US" sz="28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4905908" y="2814605"/>
            <a:ext cx="683741" cy="37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30479" y="3052120"/>
            <a:ext cx="2175305" cy="83202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Tìm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top-k chunk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liên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quan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8378" y="5081353"/>
            <a:ext cx="213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chunks -&gt;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73801" y="5145078"/>
            <a:ext cx="2175305" cy="61920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Gemini_2.5_flash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13" y="4744995"/>
            <a:ext cx="131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972" y="5219852"/>
            <a:ext cx="156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Phản</a:t>
            </a:r>
            <a:r>
              <a:rPr lang="en-US" sz="2400" b="1" dirty="0"/>
              <a:t> </a:t>
            </a:r>
            <a:r>
              <a:rPr lang="en-US" sz="2400" b="1" dirty="0" err="1"/>
              <a:t>hồi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Thảo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luận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về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kết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quả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B97D4-0468-173E-5D20-6496BC652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433" y="3101265"/>
            <a:ext cx="4991878" cy="1803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5E9184-E024-6063-00AE-0FC3D1645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89" y="5025875"/>
            <a:ext cx="4991878" cy="1418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58AAD-CEC2-8612-8FF8-67E72C5E0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77" y="1509761"/>
            <a:ext cx="6061261" cy="1591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7A2728E-CE12-4EEA-0A27-EE958190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C52E99A-B614-2252-EE96-12A00AB791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Thảo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luận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về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kết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quả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B6D4C-622A-8E80-DE01-DC2D8C56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200BA-C697-BBAC-613E-9AD2ADEDD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39" y="1468438"/>
            <a:ext cx="4739952" cy="2851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A1E8C2-AC51-9D66-0017-5323FEE39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260" y="4577944"/>
            <a:ext cx="6867331" cy="1520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63214A-9971-4A3A-5119-71833AA5F1B4}"/>
              </a:ext>
            </a:extLst>
          </p:cNvPr>
          <p:cNvSpPr txBox="1"/>
          <p:nvPr/>
        </p:nvSpPr>
        <p:spPr>
          <a:xfrm>
            <a:off x="466531" y="1907803"/>
            <a:ext cx="31724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Chatbot </a:t>
            </a:r>
            <a:r>
              <a:rPr lang="en-US" sz="2400" dirty="0" err="1">
                <a:latin typeface="+mj-lt"/>
              </a:rPr>
              <a:t>đọc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thông</a:t>
            </a:r>
            <a:r>
              <a:rPr lang="en-US" sz="2400" dirty="0">
                <a:latin typeface="+mj-lt"/>
              </a:rPr>
              <a:t> tin </a:t>
            </a:r>
            <a:r>
              <a:rPr lang="en-US" sz="2400" dirty="0" err="1">
                <a:latin typeface="+mj-lt"/>
              </a:rPr>
              <a:t>còn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thiếu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kinh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nghiệm</a:t>
            </a:r>
            <a:r>
              <a:rPr lang="en-US" sz="2400" dirty="0">
                <a:latin typeface="+mj-lt"/>
              </a:rPr>
              <a:t> ở </a:t>
            </a:r>
            <a:r>
              <a:rPr lang="en-US" sz="2400" dirty="0" err="1">
                <a:latin typeface="+mj-lt"/>
              </a:rPr>
              <a:t>vị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trí</a:t>
            </a:r>
            <a:r>
              <a:rPr lang="en-US" sz="2400" dirty="0">
                <a:latin typeface="+mj-lt"/>
              </a:rPr>
              <a:t> Game Developer </a:t>
            </a:r>
            <a:r>
              <a:rPr lang="en-US" sz="2400" dirty="0" err="1">
                <a:latin typeface="+mj-lt"/>
              </a:rPr>
              <a:t>và</a:t>
            </a:r>
            <a:r>
              <a:rPr lang="en-US" sz="2400" dirty="0">
                <a:latin typeface="+mj-lt"/>
              </a:rPr>
              <a:t> Data Engineer </a:t>
            </a:r>
            <a:r>
              <a:rPr lang="en-US" sz="2400" dirty="0" err="1">
                <a:latin typeface="+mj-lt"/>
              </a:rPr>
              <a:t>của</a:t>
            </a:r>
            <a:endParaRPr lang="en-US" sz="2400" dirty="0">
              <a:latin typeface="+mj-lt"/>
            </a:endParaRPr>
          </a:p>
          <a:p>
            <a:r>
              <a:rPr lang="en-US" sz="2400" dirty="0" err="1">
                <a:latin typeface="+mj-lt"/>
              </a:rPr>
              <a:t>ứng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viên</a:t>
            </a:r>
            <a:r>
              <a:rPr lang="en-US" sz="2400" dirty="0">
                <a:latin typeface="+mj-lt"/>
              </a:rPr>
              <a:t> Hua Van Phat</a:t>
            </a:r>
          </a:p>
        </p:txBody>
      </p:sp>
    </p:spTree>
    <p:extLst>
      <p:ext uri="{BB962C8B-B14F-4D97-AF65-F5344CB8AC3E}">
        <p14:creationId xmlns:p14="http://schemas.microsoft.com/office/powerpoint/2010/main" val="5106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67947E0-5B20-6BAE-0EF3-8D27E679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4F5CF26-CD90-CF69-4A48-6845C50A4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Thảo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luận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về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kết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quả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662E07-5380-1DB1-1795-51FD0889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B3F716-4E48-9164-08C2-240A02452A7F}"/>
              </a:ext>
            </a:extLst>
          </p:cNvPr>
          <p:cNvSpPr txBox="1"/>
          <p:nvPr/>
        </p:nvSpPr>
        <p:spPr>
          <a:xfrm>
            <a:off x="580292" y="1327635"/>
            <a:ext cx="8009793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;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web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d</a:t>
            </a:r>
            <a:r>
              <a:rPr lang="vi-VN" altLang="en-US" sz="2400" dirty="0"/>
              <a:t>ùng</a:t>
            </a:r>
            <a:r>
              <a:rPr lang="en-US" sz="2400" dirty="0"/>
              <a:t> </a:t>
            </a:r>
            <a:r>
              <a:rPr lang="en-US" sz="2400" dirty="0" err="1"/>
              <a:t>cuối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;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/>
              <a:t>Minh </a:t>
            </a:r>
            <a:r>
              <a:rPr lang="en-US" sz="2400" dirty="0" err="1"/>
              <a:t>bạch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trích</a:t>
            </a:r>
            <a:r>
              <a:rPr lang="en-US" sz="2400" dirty="0"/>
              <a:t> </a:t>
            </a:r>
            <a:r>
              <a:rPr lang="en-US" sz="2400" dirty="0" err="1"/>
              <a:t>dẫn</a:t>
            </a:r>
            <a:r>
              <a:rPr lang="en-US" sz="2400" dirty="0"/>
              <a:t>;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i="1" dirty="0" err="1"/>
              <a:t>Hạn</a:t>
            </a:r>
            <a:r>
              <a:rPr lang="en-US" sz="2400" i="1" dirty="0"/>
              <a:t> </a:t>
            </a:r>
            <a:r>
              <a:rPr lang="en-US" sz="2400" i="1" dirty="0" err="1"/>
              <a:t>chế</a:t>
            </a:r>
            <a:r>
              <a:rPr lang="en-US" sz="2400" i="1" dirty="0"/>
              <a:t>: </a:t>
            </a:r>
            <a:r>
              <a:rPr lang="en-US" sz="2400" i="1" dirty="0" err="1"/>
              <a:t>hệ</a:t>
            </a:r>
            <a:r>
              <a:rPr lang="en-US" sz="2400" i="1" dirty="0"/>
              <a:t> </a:t>
            </a:r>
            <a:r>
              <a:rPr lang="en-US" sz="2400" i="1" dirty="0" err="1"/>
              <a:t>thống</a:t>
            </a:r>
            <a:r>
              <a:rPr lang="en-US" sz="2400" i="1" dirty="0"/>
              <a:t> </a:t>
            </a:r>
            <a:r>
              <a:rPr lang="en-US" sz="2400" i="1" dirty="0" err="1"/>
              <a:t>trả</a:t>
            </a:r>
            <a:r>
              <a:rPr lang="en-US" sz="2400" i="1" dirty="0"/>
              <a:t> </a:t>
            </a:r>
            <a:r>
              <a:rPr lang="en-US" sz="2400" i="1" dirty="0" err="1"/>
              <a:t>lời</a:t>
            </a:r>
            <a:r>
              <a:rPr lang="en-US" sz="2400" i="1" dirty="0"/>
              <a:t> </a:t>
            </a:r>
            <a:r>
              <a:rPr lang="en-US" sz="2400" i="1" dirty="0" err="1"/>
              <a:t>vẫn</a:t>
            </a:r>
            <a:r>
              <a:rPr lang="en-US" sz="2400" i="1" dirty="0"/>
              <a:t> </a:t>
            </a:r>
            <a:r>
              <a:rPr lang="en-US" sz="2400" i="1" dirty="0" err="1"/>
              <a:t>chưa</a:t>
            </a:r>
            <a:r>
              <a:rPr lang="en-US" sz="2400" i="1" dirty="0"/>
              <a:t> </a:t>
            </a:r>
            <a:r>
              <a:rPr lang="en-US" sz="2400" i="1" dirty="0" err="1"/>
              <a:t>được</a:t>
            </a:r>
            <a:r>
              <a:rPr lang="en-US" sz="2400" i="1" dirty="0"/>
              <a:t> </a:t>
            </a:r>
            <a:r>
              <a:rPr lang="en-US" sz="2400" i="1" dirty="0" err="1"/>
              <a:t>chính</a:t>
            </a:r>
            <a:r>
              <a:rPr lang="en-US" sz="2400" i="1" dirty="0"/>
              <a:t> </a:t>
            </a:r>
            <a:r>
              <a:rPr lang="en-US" sz="2400" i="1" dirty="0" err="1"/>
              <a:t>xác</a:t>
            </a:r>
            <a:r>
              <a:rPr lang="en-US" sz="2400" i="1" dirty="0"/>
              <a:t> do </a:t>
            </a:r>
            <a:r>
              <a:rPr lang="en-US" sz="2400" i="1" dirty="0" err="1"/>
              <a:t>đặc</a:t>
            </a:r>
            <a:r>
              <a:rPr lang="en-US" sz="2400" i="1" dirty="0"/>
              <a:t> </a:t>
            </a:r>
            <a:r>
              <a:rPr lang="en-US" sz="2400" i="1" dirty="0" err="1"/>
              <a:t>thù</a:t>
            </a:r>
            <a:r>
              <a:rPr lang="en-US" sz="2400" i="1" dirty="0"/>
              <a:t> </a:t>
            </a:r>
            <a:r>
              <a:rPr lang="en-US" sz="2400" i="1" dirty="0" err="1"/>
              <a:t>ngôn</a:t>
            </a:r>
            <a:r>
              <a:rPr lang="en-US" sz="2400" i="1" dirty="0"/>
              <a:t> </a:t>
            </a:r>
            <a:r>
              <a:rPr lang="en-US" sz="2400" i="1" dirty="0" err="1"/>
              <a:t>ngữ</a:t>
            </a:r>
            <a:r>
              <a:rPr lang="en-US" sz="2400" i="1" dirty="0"/>
              <a:t> </a:t>
            </a:r>
            <a:r>
              <a:rPr lang="en-US" sz="2400" i="1" dirty="0" err="1"/>
              <a:t>tiếng</a:t>
            </a:r>
            <a:r>
              <a:rPr lang="en-US" sz="2400" i="1" dirty="0"/>
              <a:t> </a:t>
            </a:r>
            <a:r>
              <a:rPr lang="en-US" sz="2400" i="1" dirty="0" err="1"/>
              <a:t>Việt</a:t>
            </a:r>
            <a:r>
              <a:rPr lang="en-US" sz="2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88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0390" y="1327785"/>
            <a:ext cx="8145780" cy="421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3200" dirty="0" err="1"/>
              <a:t>Cải</a:t>
            </a:r>
            <a:r>
              <a:rPr lang="en-US" sz="3200" dirty="0"/>
              <a:t> </a:t>
            </a: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chất</a:t>
            </a:r>
            <a:r>
              <a:rPr lang="en-US" sz="3200" dirty="0"/>
              <a:t> </a:t>
            </a:r>
            <a:r>
              <a:rPr lang="en-US" sz="3200" dirty="0" err="1"/>
              <a:t>lượng</a:t>
            </a:r>
            <a:r>
              <a:rPr lang="en-US" sz="3200" dirty="0"/>
              <a:t> Retriever;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3200" dirty="0"/>
              <a:t>Fine tune </a:t>
            </a:r>
            <a:r>
              <a:rPr lang="en-US" sz="3200" dirty="0" err="1"/>
              <a:t>cho</a:t>
            </a:r>
            <a:r>
              <a:rPr lang="en-US" sz="3200" dirty="0"/>
              <a:t> LLM;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3200" dirty="0" err="1"/>
              <a:t>Áp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multi-turn conversation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thống</a:t>
            </a:r>
            <a:r>
              <a:rPr lang="en-US" sz="3200" dirty="0"/>
              <a:t> </a:t>
            </a:r>
            <a:r>
              <a:rPr lang="en-US" sz="3200" dirty="0" err="1"/>
              <a:t>trả</a:t>
            </a:r>
            <a:r>
              <a:rPr lang="en-US" sz="3200" dirty="0"/>
              <a:t> </a:t>
            </a:r>
            <a:r>
              <a:rPr lang="en-US" sz="3200" dirty="0" err="1"/>
              <a:t>lời</a:t>
            </a:r>
            <a:r>
              <a:rPr lang="en-US" sz="3200" dirty="0"/>
              <a:t> </a:t>
            </a:r>
            <a:r>
              <a:rPr lang="en-US" sz="3200" dirty="0" err="1"/>
              <a:t>theo</a:t>
            </a:r>
            <a:r>
              <a:rPr lang="en-US" sz="3200" dirty="0"/>
              <a:t> </a:t>
            </a:r>
            <a:r>
              <a:rPr lang="en-US" sz="3200" dirty="0" err="1"/>
              <a:t>ngữ</a:t>
            </a:r>
            <a:r>
              <a:rPr lang="en-US" sz="3200" dirty="0"/>
              <a:t> </a:t>
            </a:r>
            <a:r>
              <a:rPr lang="en-US" sz="3200" dirty="0" err="1"/>
              <a:t>cảnh</a:t>
            </a:r>
            <a:r>
              <a:rPr lang="en-US" sz="3200" dirty="0"/>
              <a:t> </a:t>
            </a:r>
            <a:r>
              <a:rPr lang="en-US" sz="3200" dirty="0" err="1"/>
              <a:t>dài</a:t>
            </a:r>
            <a:r>
              <a:rPr lang="en-US" sz="3200" dirty="0"/>
              <a:t>;</a:t>
            </a:r>
          </a:p>
        </p:txBody>
      </p:sp>
      <p:sp>
        <p:nvSpPr>
          <p:cNvPr id="8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Hướng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phát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triển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12</a:t>
            </a:fld>
            <a:endParaRPr lang="en-US"/>
          </a:p>
        </p:txBody>
      </p:sp>
      <p:sp>
        <p:nvSpPr>
          <p:cNvPr id="8" name="Google Shape;100;p2"/>
          <p:cNvSpPr txBox="1">
            <a:spLocks noGrp="1"/>
          </p:cNvSpPr>
          <p:nvPr>
            <p:ph type="title"/>
          </p:nvPr>
        </p:nvSpPr>
        <p:spPr>
          <a:xfrm>
            <a:off x="1191260" y="0"/>
            <a:ext cx="7952740" cy="1176655"/>
          </a:xfrm>
        </p:spPr>
        <p:txBody>
          <a:bodyPr>
            <a:normAutofit/>
          </a:bodyPr>
          <a:lstStyle/>
          <a:p>
            <a:pPr lvl="0" algn="l"/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Hướng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phát</a:t>
            </a:r>
            <a:r>
              <a:rPr lang="en-US" altLang="en-US" sz="34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 </a:t>
            </a:r>
            <a:r>
              <a:rPr lang="en-US" altLang="en-US" sz="34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Times New Roman" panose="02020603050405020304"/>
              </a:rPr>
              <a:t>triển</a:t>
            </a:r>
            <a:endParaRPr lang="vi-VN" altLang="en-US" sz="34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29945" y="1620520"/>
            <a:ext cx="748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/>
              <a:t>https://</a:t>
            </a:r>
            <a:r>
              <a:rPr lang="en-US" altLang="en-US" sz="1800" dirty="0" err="1"/>
              <a:t>github.com</a:t>
            </a:r>
            <a:r>
              <a:rPr lang="en-US" altLang="en-US" sz="1800" dirty="0"/>
              <a:t>/</a:t>
            </a:r>
            <a:r>
              <a:rPr lang="en-US" altLang="en-US" sz="1800" dirty="0" err="1"/>
              <a:t>dohieunghia2002</a:t>
            </a:r>
            <a:r>
              <a:rPr lang="en-US" altLang="en-US" sz="1800" dirty="0"/>
              <a:t>/</a:t>
            </a:r>
            <a:r>
              <a:rPr lang="en-US" altLang="en-US" sz="1800" dirty="0" err="1"/>
              <a:t>HR_ChatbotSupport</a:t>
            </a:r>
            <a:endParaRPr lang="en-US" altLang="en-US" sz="1800" dirty="0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99135" y="2247900"/>
          <a:ext cx="7816850" cy="3943350"/>
        </p:xfrm>
        <a:graphic>
          <a:graphicData uri="http://schemas.openxmlformats.org/drawingml/2006/table">
            <a:tbl>
              <a:tblPr/>
              <a:tblGrid>
                <a:gridCol w="621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Công việc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Người thực hiện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Thu thập dữ liệu về chương trình đào tạo Thạc sĩ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Kiệt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Thu thập dữ liệu về chương trình đào tạo Tiến sĩ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Thử nghiệm với mô hình LLM: Qwen2-1.5B-Instruct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Thử nghiệm Gemini API với dữ liệu CTĐT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Kiệt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Thử nghiệm Open AI API với dữ liệu CTDT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Kiệt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Thu thập dữ liệu CV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Kiệt + 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Thử nghiệm Gemini API với dữ liệu CV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Triển khai thành website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Soạn slide báo cáo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Kiệt + Nghĩa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447" y="2986943"/>
            <a:ext cx="6458585" cy="203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8000" dirty="0"/>
              <a:t>THE END</a:t>
            </a:r>
            <a:endParaRPr lang="vi-VN" altLang="en-US" sz="8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www.cit.ctu.edu.vn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CA2D9-6A4B-4743-9F7C-CF6FC0623F3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5*310"/>
  <p:tag name="TABLE_ENDDRAG_RECT" val="55*177*615*310"/>
</p:tagLst>
</file>

<file path=ppt/theme/theme1.xml><?xml version="1.0" encoding="utf-8"?>
<a:theme xmlns:a="http://schemas.openxmlformats.org/drawingml/2006/main" name="Custom Desig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445</Words>
  <Application>Microsoft Office PowerPoint</Application>
  <PresentationFormat>On-screen Show (4:3)</PresentationFormat>
  <Paragraphs>105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(Body)</vt:lpstr>
      <vt:lpstr>Calibri</vt:lpstr>
      <vt:lpstr>Times New Roman</vt:lpstr>
      <vt:lpstr>Wingdings</vt:lpstr>
      <vt:lpstr>Custom Design</vt:lpstr>
      <vt:lpstr>PowerPoint Presentation</vt:lpstr>
      <vt:lpstr>Nội dung báo cáo</vt:lpstr>
      <vt:lpstr>Giới thiệu bối cảnh tuyển dụng</vt:lpstr>
      <vt:lpstr>Giới thiệu bối cảnh tuyển dụng</vt:lpstr>
      <vt:lpstr>Phương pháp RAG đề xuất</vt:lpstr>
      <vt:lpstr>Phương pháp RAG đề xuất</vt:lpstr>
      <vt:lpstr>Phương pháp RAG đề xuất</vt:lpstr>
      <vt:lpstr>Thảo luận về kết quả</vt:lpstr>
      <vt:lpstr>Thảo luận về kết quả</vt:lpstr>
      <vt:lpstr>Thảo luận về kết quả</vt:lpstr>
      <vt:lpstr>Hướng phát triển</vt:lpstr>
      <vt:lpstr>Hướng phát triển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luan van KHMT (nhàn)</dc:title>
  <dc:creator>LRC</dc:creator>
  <cp:lastModifiedBy>nhu phuc</cp:lastModifiedBy>
  <cp:revision>394</cp:revision>
  <dcterms:created xsi:type="dcterms:W3CDTF">2008-08-06T06:37:00Z</dcterms:created>
  <dcterms:modified xsi:type="dcterms:W3CDTF">2025-12-07T20:11:36Z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1E755A4C509D46DB8F01F37AF2DEF09E_12</vt:lpwstr>
  </property>
  <property fmtid="{D5CDD505-2E9C-101B-9397-08002B2CF9AE}" pid="3" name="KSOProductBuildVer">
    <vt:lpwstr>1033-12.2.0.23155</vt:lpwstr>
  </property>
</Properties>
</file>